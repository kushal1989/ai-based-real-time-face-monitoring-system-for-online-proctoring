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62" r:id="rId4"/>
    <p:sldId id="260" r:id="rId5"/>
    <p:sldId id="261" r:id="rId6"/>
    <p:sldId id="273" r:id="rId7"/>
    <p:sldId id="275" r:id="rId8"/>
    <p:sldId id="274" r:id="rId9"/>
    <p:sldId id="276" r:id="rId10"/>
    <p:sldId id="277" r:id="rId11"/>
    <p:sldId id="280" r:id="rId12"/>
    <p:sldId id="278" r:id="rId13"/>
    <p:sldId id="279" r:id="rId14"/>
    <p:sldId id="281" r:id="rId15"/>
    <p:sldId id="272" r:id="rId16"/>
    <p:sldId id="259" r:id="rId17"/>
  </p:sldIdLst>
  <p:sldSz cx="12192000" cy="6858000"/>
  <p:notesSz cx="6858000" cy="9144000"/>
  <p:embeddedFontLst>
    <p:embeddedFont>
      <p:font typeface="Lato Black" panose="020F0502020204030203" pitchFamily="34" charset="0"/>
      <p:bold r:id="rId19"/>
      <p:boldItalic r:id="rId20"/>
    </p:embeddedFont>
    <p:embeddedFont>
      <p:font typeface="Libre Baskerville" panose="02000000000000000000" pitchFamily="2" charset="0"/>
      <p:regular r:id="rId21"/>
      <p:bold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60"/>
  </p:normalViewPr>
  <p:slideViewPr>
    <p:cSldViewPr snapToGrid="0">
      <p:cViewPr varScale="1">
        <p:scale>
          <a:sx n="72" d="100"/>
          <a:sy n="72" d="100"/>
        </p:scale>
        <p:origin x="58"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07739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inkedin.com/in/kushal-mandur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kushal1989"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2" name="TextBox 1">
            <a:extLst>
              <a:ext uri="{FF2B5EF4-FFF2-40B4-BE49-F238E27FC236}">
                <a16:creationId xmlns:a16="http://schemas.microsoft.com/office/drawing/2014/main" id="{67ED7609-4242-9F27-2D6C-397CF22D4519}"/>
              </a:ext>
            </a:extLst>
          </p:cNvPr>
          <p:cNvSpPr txBox="1"/>
          <p:nvPr/>
        </p:nvSpPr>
        <p:spPr>
          <a:xfrm>
            <a:off x="8076657" y="5457323"/>
            <a:ext cx="3284874" cy="1015663"/>
          </a:xfrm>
          <a:prstGeom prst="rect">
            <a:avLst/>
          </a:prstGeom>
          <a:noFill/>
        </p:spPr>
        <p:txBody>
          <a:bodyPr wrap="non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a:t>
            </a:r>
          </a:p>
          <a:p>
            <a:r>
              <a:rPr lang="en-US" sz="2000" dirty="0">
                <a:latin typeface="Calibri" panose="020F0502020204030204" pitchFamily="34" charset="0"/>
                <a:ea typeface="Calibri" panose="020F0502020204030204" pitchFamily="34" charset="0"/>
                <a:cs typeface="Calibri" panose="020F0502020204030204" pitchFamily="34" charset="0"/>
              </a:rPr>
              <a:t>M. Kushal Virendra Chowdary</a:t>
            </a:r>
          </a:p>
          <a:p>
            <a:r>
              <a:rPr lang="en-US" sz="2000" dirty="0">
                <a:latin typeface="Calibri" panose="020F0502020204030204" pitchFamily="34" charset="0"/>
                <a:ea typeface="Calibri" panose="020F0502020204030204" pitchFamily="34" charset="0"/>
                <a:cs typeface="Calibri" panose="020F0502020204030204" pitchFamily="34" charset="0"/>
              </a:rPr>
              <a:t>Batch No: 436</a:t>
            </a:r>
          </a:p>
        </p:txBody>
      </p:sp>
      <p:sp>
        <p:nvSpPr>
          <p:cNvPr id="3" name="TextBox 2">
            <a:extLst>
              <a:ext uri="{FF2B5EF4-FFF2-40B4-BE49-F238E27FC236}">
                <a16:creationId xmlns:a16="http://schemas.microsoft.com/office/drawing/2014/main" id="{E84523F8-644C-3679-EB33-5C1DBF759405}"/>
              </a:ext>
            </a:extLst>
          </p:cNvPr>
          <p:cNvSpPr txBox="1"/>
          <p:nvPr/>
        </p:nvSpPr>
        <p:spPr>
          <a:xfrm>
            <a:off x="944880" y="3992880"/>
            <a:ext cx="9892452" cy="461665"/>
          </a:xfrm>
          <a:prstGeom prst="rect">
            <a:avLst/>
          </a:prstGeom>
          <a:noFill/>
        </p:spPr>
        <p:txBody>
          <a:bodyPr wrap="none" rtlCol="0">
            <a:spAutoFit/>
          </a:bodyPr>
          <a:lstStyle/>
          <a:p>
            <a:r>
              <a:rPr lang="en-US" sz="2400" b="1" dirty="0"/>
              <a:t>AI-Based Real-Time Face Monitoring System for Online Proctoring</a:t>
            </a:r>
            <a:endParaRPr lang="en-IN"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52318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a:rPr>
              <a:t>About me</a:t>
            </a:r>
            <a:endParaRPr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 name="Google Shape;104;p3">
            <a:extLst>
              <a:ext uri="{FF2B5EF4-FFF2-40B4-BE49-F238E27FC236}">
                <a16:creationId xmlns:a16="http://schemas.microsoft.com/office/drawing/2014/main" id="{BCF7C222-7155-930D-4719-DAA64D7641EE}"/>
              </a:ext>
            </a:extLst>
          </p:cNvPr>
          <p:cNvSpPr txBox="1"/>
          <p:nvPr/>
        </p:nvSpPr>
        <p:spPr>
          <a:xfrm>
            <a:off x="427656" y="1309332"/>
            <a:ext cx="10855474" cy="2492950"/>
          </a:xfrm>
          <a:prstGeom prst="rect">
            <a:avLst/>
          </a:prstGeom>
          <a:noFill/>
          <a:ln>
            <a:noFill/>
          </a:ln>
        </p:spPr>
        <p:txBody>
          <a:bodyPr spcFirstLastPara="1" wrap="square" lIns="91425" tIns="45700" rIns="91425" bIns="45700" anchor="t" anchorCtr="0">
            <a:spAutoFit/>
          </a:bodyPr>
          <a:lstStyle/>
          <a:p>
            <a:pPr marL="285750" lvl="0" indent="-323850">
              <a:buClr>
                <a:schemeClr val="dk1"/>
              </a:buClr>
              <a:buSzPts val="2400"/>
              <a:buFont typeface="Arial"/>
              <a:buChar char="•"/>
            </a:pPr>
            <a:r>
              <a:rPr lang="en-US" sz="2500" dirty="0">
                <a:latin typeface="Calibri" panose="020F0502020204030204" pitchFamily="34" charset="0"/>
                <a:ea typeface="Calibri" panose="020F0502020204030204" pitchFamily="34" charset="0"/>
                <a:cs typeface="Calibri" panose="020F0502020204030204" pitchFamily="34" charset="0"/>
              </a:rPr>
              <a:t>I am a recent </a:t>
            </a:r>
            <a:r>
              <a:rPr lang="en-US" sz="2500" dirty="0" err="1">
                <a:latin typeface="Calibri" panose="020F0502020204030204" pitchFamily="34" charset="0"/>
                <a:ea typeface="Calibri" panose="020F0502020204030204" pitchFamily="34" charset="0"/>
                <a:cs typeface="Calibri" panose="020F0502020204030204" pitchFamily="34" charset="0"/>
              </a:rPr>
              <a:t>B.Tech</a:t>
            </a:r>
            <a:r>
              <a:rPr lang="en-US" sz="2500" dirty="0">
                <a:latin typeface="Calibri" panose="020F0502020204030204" pitchFamily="34" charset="0"/>
                <a:ea typeface="Calibri" panose="020F0502020204030204" pitchFamily="34" charset="0"/>
                <a:cs typeface="Calibri" panose="020F0502020204030204" pitchFamily="34" charset="0"/>
              </a:rPr>
              <a:t> graduate in Artificial Intelligence and Data Science from Vignan Institute of Technology and Science.</a:t>
            </a:r>
          </a:p>
          <a:p>
            <a:pPr marL="285750" lvl="0" indent="-323850">
              <a:buClr>
                <a:schemeClr val="dk1"/>
              </a:buClr>
              <a:buSzPts val="2400"/>
              <a:buFont typeface="Arial"/>
              <a:buChar char="•"/>
            </a:pPr>
            <a:r>
              <a:rPr lang="en-US" sz="2500" dirty="0">
                <a:latin typeface="Calibri" panose="020F0502020204030204" pitchFamily="34" charset="0"/>
                <a:ea typeface="Calibri" panose="020F0502020204030204" pitchFamily="34" charset="0"/>
                <a:cs typeface="Calibri" panose="020F0502020204030204" pitchFamily="34" charset="0"/>
              </a:rPr>
              <a:t>As an AI &amp; DS student, I have the passion and interest to learn Data Science and apply it to solve real-world problems</a:t>
            </a:r>
            <a:endParaRPr sz="250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Calibri"/>
              <a:buChar char="•"/>
            </a:pPr>
            <a:r>
              <a:rPr lang="en-IN" sz="2500" b="1" dirty="0">
                <a:latin typeface="Calibri" panose="020F0502020204030204" pitchFamily="34" charset="0"/>
                <a:ea typeface="Calibri" panose="020F0502020204030204" pitchFamily="34" charset="0"/>
                <a:cs typeface="Calibri" panose="020F0502020204030204" pitchFamily="34" charset="0"/>
              </a:rPr>
              <a:t>LinkedIn -</a:t>
            </a:r>
            <a:r>
              <a:rPr lang="en-IN" sz="2500" dirty="0">
                <a:latin typeface="Calibri" panose="020F0502020204030204" pitchFamily="34" charset="0"/>
                <a:ea typeface="Calibri" panose="020F0502020204030204" pitchFamily="34" charset="0"/>
                <a:cs typeface="Calibri" panose="020F0502020204030204" pitchFamily="34" charset="0"/>
              </a:rPr>
              <a:t> </a:t>
            </a:r>
            <a:r>
              <a:rPr lang="en-IN" sz="2500" dirty="0">
                <a:latin typeface="Calibri" panose="020F0502020204030204" pitchFamily="34" charset="0"/>
                <a:ea typeface="Calibri" panose="020F0502020204030204" pitchFamily="34" charset="0"/>
                <a:cs typeface="Calibri" panose="020F0502020204030204" pitchFamily="34" charset="0"/>
                <a:hlinkClick r:id="rId3" tooltip="https://linkedin.com/in/kushal-manduri"/>
              </a:rPr>
              <a:t>https://linkedin.com/in/kushal-manduri</a:t>
            </a:r>
            <a:r>
              <a:rPr lang="en-IN" sz="2500" dirty="0">
                <a:latin typeface="Calibri" panose="020F0502020204030204" pitchFamily="34" charset="0"/>
                <a:ea typeface="Calibri" panose="020F0502020204030204" pitchFamily="34" charset="0"/>
                <a:cs typeface="Calibri" panose="020F0502020204030204" pitchFamily="34" charset="0"/>
              </a:rPr>
              <a:t> </a:t>
            </a:r>
          </a:p>
          <a:p>
            <a:pPr marL="285750" lvl="0" indent="-323850">
              <a:buClr>
                <a:schemeClr val="dk1"/>
              </a:buClr>
              <a:buSzPts val="2400"/>
              <a:buFont typeface="Calibri"/>
              <a:buChar char="•"/>
            </a:pPr>
            <a:r>
              <a:rPr lang="en-IN" sz="2500" b="1" dirty="0">
                <a:latin typeface="Calibri" panose="020F0502020204030204" pitchFamily="34" charset="0"/>
                <a:ea typeface="Calibri" panose="020F0502020204030204" pitchFamily="34" charset="0"/>
                <a:cs typeface="Calibri" panose="020F0502020204030204" pitchFamily="34" charset="0"/>
              </a:rPr>
              <a:t>GitHub -</a:t>
            </a:r>
            <a:r>
              <a:rPr lang="en-IN" sz="2500" dirty="0">
                <a:latin typeface="Calibri" panose="020F0502020204030204" pitchFamily="34" charset="0"/>
                <a:ea typeface="Calibri" panose="020F0502020204030204" pitchFamily="34" charset="0"/>
                <a:cs typeface="Calibri" panose="020F0502020204030204" pitchFamily="34" charset="0"/>
              </a:rPr>
              <a:t> </a:t>
            </a:r>
            <a:r>
              <a:rPr lang="en-IN" sz="2500" dirty="0">
                <a:latin typeface="Calibri" panose="020F0502020204030204" pitchFamily="34" charset="0"/>
                <a:ea typeface="Calibri" panose="020F0502020204030204" pitchFamily="34" charset="0"/>
                <a:cs typeface="Calibri" panose="020F0502020204030204" pitchFamily="34" charset="0"/>
                <a:hlinkClick r:id="rId4" tooltip="https://github.com/kushal1989"/>
              </a:rPr>
              <a:t>https://github.com/kushal1989</a:t>
            </a:r>
            <a:endParaRPr sz="25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9A3396D-1558-11BF-C315-ECCAF963E179}"/>
              </a:ext>
            </a:extLst>
          </p:cNvPr>
          <p:cNvSpPr>
            <a:spLocks noChangeArrowheads="1"/>
          </p:cNvSpPr>
          <p:nvPr/>
        </p:nvSpPr>
        <p:spPr bwMode="auto">
          <a:xfrm rot="10800000" flipV="1">
            <a:off x="657987" y="1351508"/>
            <a:ext cx="575056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Business Problem statement</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Project Objective</a:t>
            </a:r>
          </a:p>
          <a:p>
            <a:pPr marL="342900" indent="-342900" eaLnBrk="0" fontAlgn="base" hangingPunct="0">
              <a:spcBef>
                <a:spcPct val="0"/>
              </a:spcBef>
              <a:spcAft>
                <a:spcPct val="0"/>
              </a:spcAft>
              <a:buClrTx/>
              <a:buFont typeface="Wingdings" panose="05000000000000000000" pitchFamily="2" charset="2"/>
              <a:buChar char="Ø"/>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Technologies Used</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Face Detection Module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Working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Demo</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Advantages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Challenges</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Conclusion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Q&amp;A</a:t>
            </a:r>
          </a:p>
        </p:txBody>
      </p:sp>
      <p:sp>
        <p:nvSpPr>
          <p:cNvPr id="3" name="Google Shape;105;p3">
            <a:extLst>
              <a:ext uri="{FF2B5EF4-FFF2-40B4-BE49-F238E27FC236}">
                <a16:creationId xmlns:a16="http://schemas.microsoft.com/office/drawing/2014/main" id="{9D9983E7-8F0E-9DD4-AE37-C7E51BEE61E2}"/>
              </a:ext>
            </a:extLst>
          </p:cNvPr>
          <p:cNvSpPr txBox="1"/>
          <p:nvPr/>
        </p:nvSpPr>
        <p:spPr>
          <a:xfrm>
            <a:off x="199056" y="253269"/>
            <a:ext cx="6099463" cy="52318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rPr>
              <a:t>Table of Contents</a:t>
            </a:r>
            <a:endParaRPr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7" name="Picture 6">
            <a:extLst>
              <a:ext uri="{FF2B5EF4-FFF2-40B4-BE49-F238E27FC236}">
                <a16:creationId xmlns:a16="http://schemas.microsoft.com/office/drawing/2014/main" id="{76DC94B3-1F4C-A41D-344F-6394ADA4DC10}"/>
              </a:ext>
            </a:extLst>
          </p:cNvPr>
          <p:cNvPicPr>
            <a:picLocks noChangeAspect="1"/>
          </p:cNvPicPr>
          <p:nvPr/>
        </p:nvPicPr>
        <p:blipFill>
          <a:blip r:embed="rId2"/>
          <a:stretch>
            <a:fillRect/>
          </a:stretch>
        </p:blipFill>
        <p:spPr>
          <a:xfrm>
            <a:off x="6298519" y="1092200"/>
            <a:ext cx="4673600" cy="4673600"/>
          </a:xfrm>
          <a:prstGeom prst="rect">
            <a:avLst/>
          </a:prstGeom>
        </p:spPr>
      </p:pic>
    </p:spTree>
    <p:extLst>
      <p:ext uri="{BB962C8B-B14F-4D97-AF65-F5344CB8AC3E}">
        <p14:creationId xmlns:p14="http://schemas.microsoft.com/office/powerpoint/2010/main" val="363396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1EA26A72-0726-7EB9-E878-C5C5C2227FAD}"/>
              </a:ext>
            </a:extLst>
          </p:cNvPr>
          <p:cNvSpPr txBox="1"/>
          <p:nvPr/>
        </p:nvSpPr>
        <p:spPr>
          <a:xfrm>
            <a:off x="427656" y="416554"/>
            <a:ext cx="6099463" cy="52318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a:rPr>
              <a:t>Business Problem Statement</a:t>
            </a:r>
          </a:p>
        </p:txBody>
      </p:sp>
      <p:sp>
        <p:nvSpPr>
          <p:cNvPr id="3" name="TextBox 2">
            <a:extLst>
              <a:ext uri="{FF2B5EF4-FFF2-40B4-BE49-F238E27FC236}">
                <a16:creationId xmlns:a16="http://schemas.microsoft.com/office/drawing/2014/main" id="{910BDDEC-36EB-6505-32AC-2613D8A46AC9}"/>
              </a:ext>
            </a:extLst>
          </p:cNvPr>
          <p:cNvSpPr txBox="1"/>
          <p:nvPr/>
        </p:nvSpPr>
        <p:spPr>
          <a:xfrm>
            <a:off x="427656" y="1254760"/>
            <a:ext cx="11135360" cy="4651979"/>
          </a:xfrm>
          <a:prstGeom prst="rect">
            <a:avLst/>
          </a:prstGeom>
          <a:noFill/>
        </p:spPr>
        <p:txBody>
          <a:bodyPr wrap="square" rtlCol="0">
            <a:spAutoFit/>
          </a:bodyPr>
          <a:lstStyle/>
          <a:p>
            <a:pPr algn="just">
              <a:lnSpc>
                <a:spcPct val="150000"/>
              </a:lnSpc>
            </a:pPr>
            <a:r>
              <a:rPr lang="en-US" sz="2000" dirty="0"/>
              <a:t>The rapid adoption of online exams, interviews, and certification tests across educational institutions and corporate platforms has introduced significant challenges in maintaining assessment integrity. Remote assessments often lack effective supervision, allowing issues such as candidate absence, impersonation, and multiple individuals appearing on camera to go undetected.</a:t>
            </a:r>
          </a:p>
          <a:p>
            <a:pPr algn="just">
              <a:lnSpc>
                <a:spcPct val="150000"/>
              </a:lnSpc>
            </a:pPr>
            <a:endParaRPr lang="en-US" sz="2000" dirty="0"/>
          </a:p>
          <a:p>
            <a:pPr algn="just">
              <a:lnSpc>
                <a:spcPct val="150000"/>
              </a:lnSpc>
            </a:pPr>
            <a:r>
              <a:rPr lang="en-US" sz="2000" dirty="0"/>
              <a:t>These challenges compromise the credibility of evaluations, lead to unfair assessment outcomes, and reduce trust in online examination systems. Manual monitoring by human proctors is expensive, error-prone, and not scalable, creating a strong need for an automated and reliable monitoring solution.</a:t>
            </a:r>
          </a:p>
        </p:txBody>
      </p:sp>
    </p:spTree>
    <p:extLst>
      <p:ext uri="{BB962C8B-B14F-4D97-AF65-F5344CB8AC3E}">
        <p14:creationId xmlns:p14="http://schemas.microsoft.com/office/powerpoint/2010/main" val="66457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32B03100-B985-9CEE-3DBC-598EA4369DE9}"/>
              </a:ext>
            </a:extLst>
          </p:cNvPr>
          <p:cNvSpPr txBox="1"/>
          <p:nvPr/>
        </p:nvSpPr>
        <p:spPr>
          <a:xfrm>
            <a:off x="346376" y="31495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Project Objective</a:t>
            </a:r>
          </a:p>
        </p:txBody>
      </p:sp>
      <p:sp>
        <p:nvSpPr>
          <p:cNvPr id="4" name="TextBox 3">
            <a:extLst>
              <a:ext uri="{FF2B5EF4-FFF2-40B4-BE49-F238E27FC236}">
                <a16:creationId xmlns:a16="http://schemas.microsoft.com/office/drawing/2014/main" id="{768197F7-779B-7875-0E7A-C0C845669B51}"/>
              </a:ext>
            </a:extLst>
          </p:cNvPr>
          <p:cNvSpPr txBox="1"/>
          <p:nvPr/>
        </p:nvSpPr>
        <p:spPr>
          <a:xfrm rot="10800000" flipV="1">
            <a:off x="497840" y="1005787"/>
            <a:ext cx="11196319" cy="4651979"/>
          </a:xfrm>
          <a:prstGeom prst="rect">
            <a:avLst/>
          </a:prstGeom>
          <a:noFill/>
        </p:spPr>
        <p:txBody>
          <a:bodyPr wrap="square" rtlCol="0">
            <a:spAutoFit/>
          </a:bodyPr>
          <a:lstStyle/>
          <a:p>
            <a:pPr algn="just">
              <a:lnSpc>
                <a:spcPct val="150000"/>
              </a:lnSpc>
            </a:pPr>
            <a:r>
              <a:rPr lang="en-US" sz="2000" dirty="0"/>
              <a:t>The primary objective of the AI-Based Real-Time Face Monitoring System for Online Proctoring is to continuously monitor candidates through live webcam input in order to detect face absence and multiple faces during an active session. The system aims to generate real-time alerts and logs for suspicious activities, thereby improving fairness, transparency, and integrity in online examinations.</a:t>
            </a:r>
          </a:p>
          <a:p>
            <a:pPr algn="just">
              <a:lnSpc>
                <a:spcPct val="150000"/>
              </a:lnSpc>
            </a:pPr>
            <a:endParaRPr lang="en-US" sz="2000" dirty="0"/>
          </a:p>
          <a:p>
            <a:pPr algn="just">
              <a:lnSpc>
                <a:spcPct val="150000"/>
              </a:lnSpc>
            </a:pPr>
            <a:r>
              <a:rPr lang="en-US" sz="2000" dirty="0"/>
              <a:t>Secondary objectives include reducing dependency on manual invigilators, providing automated and time-stamped evidence for examination violations, enabling scalable remote assessment monitoring, and supporting cost-effective proctoring solutions for educational institutions and organizations.</a:t>
            </a:r>
          </a:p>
        </p:txBody>
      </p:sp>
    </p:spTree>
    <p:extLst>
      <p:ext uri="{BB962C8B-B14F-4D97-AF65-F5344CB8AC3E}">
        <p14:creationId xmlns:p14="http://schemas.microsoft.com/office/powerpoint/2010/main" val="1639588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3B657969-D786-88F5-BFEB-2B202A50FDB6}"/>
              </a:ext>
            </a:extLst>
          </p:cNvPr>
          <p:cNvSpPr txBox="1"/>
          <p:nvPr/>
        </p:nvSpPr>
        <p:spPr>
          <a:xfrm>
            <a:off x="346376" y="31495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3" name="TextBox 2">
            <a:extLst>
              <a:ext uri="{FF2B5EF4-FFF2-40B4-BE49-F238E27FC236}">
                <a16:creationId xmlns:a16="http://schemas.microsoft.com/office/drawing/2014/main" id="{3BF41ACA-DFA1-75A4-C06A-DF0864D80F06}"/>
              </a:ext>
            </a:extLst>
          </p:cNvPr>
          <p:cNvSpPr txBox="1"/>
          <p:nvPr/>
        </p:nvSpPr>
        <p:spPr>
          <a:xfrm>
            <a:off x="346376" y="1564675"/>
            <a:ext cx="11074400" cy="3728649"/>
          </a:xfrm>
          <a:prstGeom prst="rect">
            <a:avLst/>
          </a:prstGeom>
          <a:noFill/>
        </p:spPr>
        <p:txBody>
          <a:bodyPr wrap="square" rtlCol="0">
            <a:spAutoFit/>
          </a:bodyPr>
          <a:lstStyle/>
          <a:p>
            <a:pPr algn="just">
              <a:lnSpc>
                <a:spcPct val="150000"/>
              </a:lnSpc>
            </a:pPr>
            <a:r>
              <a:rPr lang="en-US" sz="2000" dirty="0"/>
              <a:t>This project presents an AI-based real-time face monitoring system that uses computer vision to continuously observe candidates through a webcam. The system detects face absence, multiple faces, and suspicious head movements during an active session.</a:t>
            </a:r>
          </a:p>
          <a:p>
            <a:pPr algn="just">
              <a:lnSpc>
                <a:spcPct val="150000"/>
              </a:lnSpc>
            </a:pPr>
            <a:endParaRPr lang="en-US" sz="2000" dirty="0"/>
          </a:p>
          <a:p>
            <a:pPr algn="just">
              <a:lnSpc>
                <a:spcPct val="150000"/>
              </a:lnSpc>
            </a:pPr>
            <a:r>
              <a:rPr lang="en-US" sz="2000" dirty="0"/>
              <a:t>By generating real-time alerts, capturing visual evidence, and maintaining detailed logs, the system improves exam integrity while reducing dependency on human invigilators. The solution is scalable, cost-effective, and suitable for modern online assessment platforms.</a:t>
            </a:r>
          </a:p>
          <a:p>
            <a:pPr algn="just">
              <a:lnSpc>
                <a:spcPct val="150000"/>
              </a:lnSpc>
            </a:pPr>
            <a:endParaRPr lang="en-IN" sz="2000" dirty="0"/>
          </a:p>
        </p:txBody>
      </p:sp>
    </p:spTree>
    <p:extLst>
      <p:ext uri="{BB962C8B-B14F-4D97-AF65-F5344CB8AC3E}">
        <p14:creationId xmlns:p14="http://schemas.microsoft.com/office/powerpoint/2010/main" val="350917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CC5C19EE-9733-6D7D-B3C3-C89388F48F24}"/>
              </a:ext>
            </a:extLst>
          </p:cNvPr>
          <p:cNvSpPr txBox="1"/>
          <p:nvPr/>
        </p:nvSpPr>
        <p:spPr>
          <a:xfrm>
            <a:off x="346376" y="31495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Technologies Used</a:t>
            </a:r>
          </a:p>
        </p:txBody>
      </p:sp>
      <p:sp>
        <p:nvSpPr>
          <p:cNvPr id="3" name="TextBox 2">
            <a:extLst>
              <a:ext uri="{FF2B5EF4-FFF2-40B4-BE49-F238E27FC236}">
                <a16:creationId xmlns:a16="http://schemas.microsoft.com/office/drawing/2014/main" id="{D5AE94E6-B852-59F7-7072-6C05F387D779}"/>
              </a:ext>
            </a:extLst>
          </p:cNvPr>
          <p:cNvSpPr txBox="1"/>
          <p:nvPr/>
        </p:nvSpPr>
        <p:spPr>
          <a:xfrm>
            <a:off x="528787" y="1544320"/>
            <a:ext cx="11246653" cy="234365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t>OpenCV - OpenCV is used to capture webcam video, process image frames, and display the real-time monitoring interface.</a:t>
            </a:r>
          </a:p>
          <a:p>
            <a:pPr marL="285750" indent="-285750" algn="just">
              <a:lnSpc>
                <a:spcPct val="150000"/>
              </a:lnSpc>
              <a:buFont typeface="Arial" panose="020B0604020202020204" pitchFamily="34" charset="0"/>
              <a:buChar char="•"/>
            </a:pPr>
            <a:r>
              <a:rPr lang="en-US" sz="2000" dirty="0" err="1"/>
              <a:t>Mediapipe</a:t>
            </a:r>
            <a:r>
              <a:rPr lang="en-US" sz="2000" dirty="0"/>
              <a:t> - </a:t>
            </a:r>
            <a:r>
              <a:rPr lang="en-US" sz="2000" dirty="0" err="1"/>
              <a:t>MediaPipe</a:t>
            </a:r>
            <a:r>
              <a:rPr lang="en-US" sz="2000" dirty="0"/>
              <a:t> is used to perform real-time face detection and provide face location data for movement analysis and monitoring.</a:t>
            </a:r>
          </a:p>
          <a:p>
            <a:pPr marL="285750" indent="-28575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63502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5;p3">
            <a:extLst>
              <a:ext uri="{FF2B5EF4-FFF2-40B4-BE49-F238E27FC236}">
                <a16:creationId xmlns:a16="http://schemas.microsoft.com/office/drawing/2014/main" id="{0C47C2D9-F504-34E4-481F-7784B68426E0}"/>
              </a:ext>
            </a:extLst>
          </p:cNvPr>
          <p:cNvSpPr txBox="1"/>
          <p:nvPr/>
        </p:nvSpPr>
        <p:spPr>
          <a:xfrm>
            <a:off x="214296" y="24383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Face Detection - </a:t>
            </a:r>
            <a:r>
              <a:rPr lang="en-US" altLang="en-US" sz="3500" b="1" dirty="0" err="1">
                <a:solidFill>
                  <a:srgbClr val="FF0000"/>
                </a:solidFill>
                <a:latin typeface="Calibri" panose="020F0502020204030204" pitchFamily="34" charset="0"/>
                <a:ea typeface="Calibri" panose="020F0502020204030204" pitchFamily="34" charset="0"/>
                <a:cs typeface="Calibri" panose="020F0502020204030204" pitchFamily="34" charset="0"/>
              </a:rPr>
              <a:t>Mediapipe</a:t>
            </a:r>
            <a:endPar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Face detection guide | Google AI Edge | Google AI for Developers">
            <a:extLst>
              <a:ext uri="{FF2B5EF4-FFF2-40B4-BE49-F238E27FC236}">
                <a16:creationId xmlns:a16="http://schemas.microsoft.com/office/drawing/2014/main" id="{B42A8B10-2A63-460A-C074-28528F58F0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366" y="2116167"/>
            <a:ext cx="4684114" cy="26256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B67732C-E29C-6B99-3896-132AA9B0286C}"/>
              </a:ext>
            </a:extLst>
          </p:cNvPr>
          <p:cNvSpPr txBox="1"/>
          <p:nvPr/>
        </p:nvSpPr>
        <p:spPr>
          <a:xfrm>
            <a:off x="214296" y="1168400"/>
            <a:ext cx="6593840" cy="514525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700" dirty="0" err="1"/>
              <a:t>Mediapipe</a:t>
            </a:r>
            <a:r>
              <a:rPr lang="en-US" sz="1700" dirty="0"/>
              <a:t> provides a </a:t>
            </a:r>
            <a:r>
              <a:rPr lang="en-US" sz="1700" b="1" dirty="0"/>
              <a:t>pre-trained, real-time face detection model</a:t>
            </a:r>
            <a:r>
              <a:rPr lang="en-US" sz="1700" dirty="0"/>
              <a:t> optimized for live video streams.</a:t>
            </a:r>
          </a:p>
          <a:p>
            <a:pPr marL="285750" indent="-285750" algn="just">
              <a:lnSpc>
                <a:spcPct val="150000"/>
              </a:lnSpc>
              <a:buFont typeface="Arial" panose="020B0604020202020204" pitchFamily="34" charset="0"/>
              <a:buChar char="•"/>
            </a:pPr>
            <a:r>
              <a:rPr lang="en-US" sz="1700" dirty="0"/>
              <a:t>It detects </a:t>
            </a:r>
            <a:r>
              <a:rPr lang="en-US" sz="1700" b="1" dirty="0"/>
              <a:t>human faces in each video frame</a:t>
            </a:r>
            <a:r>
              <a:rPr lang="en-US" sz="1700" dirty="0"/>
              <a:t> and returns their location as </a:t>
            </a:r>
            <a:r>
              <a:rPr lang="en-US" sz="1700" b="1" dirty="0"/>
              <a:t>bounding boxes</a:t>
            </a:r>
            <a:r>
              <a:rPr lang="en-US" sz="1700" dirty="0"/>
              <a:t>.</a:t>
            </a:r>
          </a:p>
          <a:p>
            <a:pPr marL="285750" indent="-285750" algn="just">
              <a:lnSpc>
                <a:spcPct val="150000"/>
              </a:lnSpc>
              <a:buFont typeface="Arial" panose="020B0604020202020204" pitchFamily="34" charset="0"/>
              <a:buChar char="•"/>
            </a:pPr>
            <a:r>
              <a:rPr lang="en-US" sz="1700" dirty="0"/>
              <a:t>The model is based on </a:t>
            </a:r>
            <a:r>
              <a:rPr lang="en-US" sz="1700" b="1" dirty="0"/>
              <a:t>lightweight deep learning</a:t>
            </a:r>
            <a:r>
              <a:rPr lang="en-US" sz="1700" dirty="0"/>
              <a:t>, making it fast and suitable for real-time applications.</a:t>
            </a:r>
          </a:p>
          <a:p>
            <a:pPr marL="285750" indent="-285750" algn="just">
              <a:lnSpc>
                <a:spcPct val="150000"/>
              </a:lnSpc>
              <a:buFont typeface="Arial" panose="020B0604020202020204" pitchFamily="34" charset="0"/>
              <a:buChar char="•"/>
            </a:pPr>
            <a:r>
              <a:rPr lang="en-US" sz="1700" dirty="0"/>
              <a:t>It supports </a:t>
            </a:r>
            <a:r>
              <a:rPr lang="en-US" sz="1700" b="1" dirty="0"/>
              <a:t>single-face and multi-face detection</a:t>
            </a:r>
            <a:r>
              <a:rPr lang="en-US" sz="1700" dirty="0"/>
              <a:t>, which helps identify impersonation scenarios.</a:t>
            </a:r>
          </a:p>
          <a:p>
            <a:pPr marL="285750" indent="-285750" algn="just">
              <a:lnSpc>
                <a:spcPct val="150000"/>
              </a:lnSpc>
              <a:buFont typeface="Arial" panose="020B0604020202020204" pitchFamily="34" charset="0"/>
              <a:buChar char="•"/>
            </a:pPr>
            <a:r>
              <a:rPr lang="en-US" sz="1700" dirty="0" err="1"/>
              <a:t>Mediapipe</a:t>
            </a:r>
            <a:r>
              <a:rPr lang="en-US" sz="1700" dirty="0"/>
              <a:t> works efficiently on </a:t>
            </a:r>
            <a:r>
              <a:rPr lang="en-US" sz="1700" b="1" dirty="0"/>
              <a:t>CPU without requiring a GPU</a:t>
            </a:r>
            <a:r>
              <a:rPr lang="en-US" sz="1700" dirty="0"/>
              <a:t>, enabling easy deployment.</a:t>
            </a:r>
          </a:p>
          <a:p>
            <a:pPr marL="285750" indent="-285750" algn="just">
              <a:lnSpc>
                <a:spcPct val="150000"/>
              </a:lnSpc>
              <a:buFont typeface="Arial" panose="020B0604020202020204" pitchFamily="34" charset="0"/>
              <a:buChar char="•"/>
            </a:pPr>
            <a:r>
              <a:rPr lang="en-US" sz="1700" dirty="0"/>
              <a:t>The detected face coordinates are used for </a:t>
            </a:r>
            <a:r>
              <a:rPr lang="en-US" sz="1700" b="1" dirty="0"/>
              <a:t>further analysis</a:t>
            </a:r>
            <a:r>
              <a:rPr lang="en-US" sz="1700" dirty="0"/>
              <a:t>, such as movement tracking and presence monitoring.</a:t>
            </a:r>
          </a:p>
          <a:p>
            <a:pPr marL="285750" indent="-285750" algn="just">
              <a:lnSpc>
                <a:spcPct val="150000"/>
              </a:lnSpc>
              <a:buFont typeface="Arial" panose="020B0604020202020204" pitchFamily="34" charset="0"/>
              <a:buChar char="•"/>
            </a:pPr>
            <a:endParaRPr lang="en-IN" sz="1700" dirty="0"/>
          </a:p>
        </p:txBody>
      </p:sp>
    </p:spTree>
    <p:extLst>
      <p:ext uri="{BB962C8B-B14F-4D97-AF65-F5344CB8AC3E}">
        <p14:creationId xmlns:p14="http://schemas.microsoft.com/office/powerpoint/2010/main" val="54469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5;p3">
            <a:extLst>
              <a:ext uri="{FF2B5EF4-FFF2-40B4-BE49-F238E27FC236}">
                <a16:creationId xmlns:a16="http://schemas.microsoft.com/office/drawing/2014/main" id="{011FD230-5A6B-BFDC-0228-61DEBEDD49A4}"/>
              </a:ext>
            </a:extLst>
          </p:cNvPr>
          <p:cNvSpPr txBox="1"/>
          <p:nvPr/>
        </p:nvSpPr>
        <p:spPr>
          <a:xfrm>
            <a:off x="92376" y="0"/>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Working</a:t>
            </a:r>
          </a:p>
        </p:txBody>
      </p:sp>
      <p:sp>
        <p:nvSpPr>
          <p:cNvPr id="5" name="Rectangle 1">
            <a:extLst>
              <a:ext uri="{FF2B5EF4-FFF2-40B4-BE49-F238E27FC236}">
                <a16:creationId xmlns:a16="http://schemas.microsoft.com/office/drawing/2014/main" id="{FFB1C969-21B2-67E7-FBA4-5042936A9F10}"/>
              </a:ext>
            </a:extLst>
          </p:cNvPr>
          <p:cNvSpPr>
            <a:spLocks noChangeArrowheads="1"/>
          </p:cNvSpPr>
          <p:nvPr/>
        </p:nvSpPr>
        <p:spPr bwMode="auto">
          <a:xfrm>
            <a:off x="325120" y="499994"/>
            <a:ext cx="8961120" cy="5858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starts by capturing live video frames from the user’s webcam in real time.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Each video frame is converted into a suitable format and passed to the </a:t>
            </a:r>
            <a:r>
              <a:rPr kumimoji="0" lang="en-US" altLang="en-US" sz="1800" b="0" i="0" u="none" strike="noStrike" cap="none" normalizeH="0" baseline="0" dirty="0" err="1">
                <a:ln>
                  <a:noFill/>
                </a:ln>
                <a:solidFill>
                  <a:schemeClr val="tx1"/>
                </a:solidFill>
                <a:effectLst/>
                <a:latin typeface="Arial" panose="020B0604020202020204" pitchFamily="34" charset="0"/>
              </a:rPr>
              <a:t>MediaPipe</a:t>
            </a:r>
            <a:r>
              <a:rPr kumimoji="0" lang="en-US" altLang="en-US" sz="1800" b="0" i="0" u="none" strike="noStrike" cap="none" normalizeH="0" baseline="0" dirty="0">
                <a:ln>
                  <a:noFill/>
                </a:ln>
                <a:solidFill>
                  <a:schemeClr val="tx1"/>
                </a:solidFill>
                <a:effectLst/>
                <a:latin typeface="Arial" panose="020B0604020202020204" pitchFamily="34" charset="0"/>
              </a:rPr>
              <a:t> face detection model.</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 face detection module identifies the number of faces present in the frame and returns their bounding box coordinates.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If no face is detected, the system marks the event as </a:t>
            </a:r>
            <a:r>
              <a:rPr kumimoji="0" lang="en-US" altLang="en-US" sz="1800" b="0" i="1" u="none" strike="noStrike" cap="none" normalizeH="0" baseline="0" dirty="0">
                <a:ln>
                  <a:noFill/>
                </a:ln>
                <a:solidFill>
                  <a:schemeClr val="tx1"/>
                </a:solidFill>
                <a:effectLst/>
                <a:latin typeface="Arial" panose="020B0604020202020204" pitchFamily="34" charset="0"/>
              </a:rPr>
              <a:t>Face Missing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If more than one face is detected, the system flags it as </a:t>
            </a:r>
            <a:r>
              <a:rPr kumimoji="0" lang="en-US" altLang="en-US" sz="1800" b="0" i="1" u="none" strike="noStrike" cap="none" normalizeH="0" baseline="0" dirty="0">
                <a:ln>
                  <a:noFill/>
                </a:ln>
                <a:solidFill>
                  <a:schemeClr val="tx1"/>
                </a:solidFill>
                <a:effectLst/>
                <a:latin typeface="Arial" panose="020B0604020202020204" pitchFamily="34" charset="0"/>
              </a:rPr>
              <a:t>Multiple Faces Detected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When a single face is detected, the system tracks the face position to analyze left and right head movements.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 detected behavior is classified as normal or suspicious based on predefined conditions and time thresholds.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On detecting any violation, the system triggers an alert, captures a screenshot, and logs the event with a timestamp in a CSV file.</a:t>
            </a:r>
          </a:p>
        </p:txBody>
      </p:sp>
      <p:pic>
        <p:nvPicPr>
          <p:cNvPr id="6" name="Picture 2">
            <a:extLst>
              <a:ext uri="{FF2B5EF4-FFF2-40B4-BE49-F238E27FC236}">
                <a16:creationId xmlns:a16="http://schemas.microsoft.com/office/drawing/2014/main" id="{028038DC-8DDC-C516-93D5-F6263B677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3039" y="499994"/>
            <a:ext cx="1803841" cy="56468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D594B5C-8A83-41FF-0D46-55011D3D4E32}"/>
              </a:ext>
            </a:extLst>
          </p:cNvPr>
          <p:cNvPicPr>
            <a:picLocks noChangeAspect="1"/>
          </p:cNvPicPr>
          <p:nvPr/>
        </p:nvPicPr>
        <p:blipFill>
          <a:blip r:embed="rId3"/>
          <a:stretch>
            <a:fillRect/>
          </a:stretch>
        </p:blipFill>
        <p:spPr>
          <a:xfrm>
            <a:off x="11468456" y="5662047"/>
            <a:ext cx="510184" cy="484755"/>
          </a:xfrm>
          <a:prstGeom prst="rect">
            <a:avLst/>
          </a:prstGeom>
        </p:spPr>
      </p:pic>
    </p:spTree>
    <p:extLst>
      <p:ext uri="{BB962C8B-B14F-4D97-AF65-F5344CB8AC3E}">
        <p14:creationId xmlns:p14="http://schemas.microsoft.com/office/powerpoint/2010/main" val="178308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3D268669-4D90-06A3-9F34-25081DB719BD}"/>
              </a:ext>
            </a:extLst>
          </p:cNvPr>
          <p:cNvSpPr txBox="1"/>
          <p:nvPr/>
        </p:nvSpPr>
        <p:spPr>
          <a:xfrm>
            <a:off x="214296" y="24383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Demo</a:t>
            </a:r>
          </a:p>
        </p:txBody>
      </p:sp>
      <p:pic>
        <p:nvPicPr>
          <p:cNvPr id="4" name="Video 3">
            <a:hlinkClick r:id="" action="ppaction://media"/>
            <a:extLst>
              <a:ext uri="{FF2B5EF4-FFF2-40B4-BE49-F238E27FC236}">
                <a16:creationId xmlns:a16="http://schemas.microsoft.com/office/drawing/2014/main" id="{3AC35D8D-5835-30AF-08B8-348D3814AA7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95400" y="990600"/>
            <a:ext cx="9601200" cy="4876800"/>
          </a:xfrm>
          <a:prstGeom prst="rect">
            <a:avLst/>
          </a:prstGeom>
        </p:spPr>
      </p:pic>
    </p:spTree>
    <p:extLst>
      <p:ext uri="{BB962C8B-B14F-4D97-AF65-F5344CB8AC3E}">
        <p14:creationId xmlns:p14="http://schemas.microsoft.com/office/powerpoint/2010/main" val="241485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774" fill="hold"/>
                                        <p:tgtEl>
                                          <p:spTgt spid="4"/>
                                        </p:tgtEl>
                                      </p:cBhvr>
                                    </p:cmd>
                                  </p:childTnLst>
                                </p:cTn>
                              </p:par>
                              <p:par>
                                <p:cTn id="7" presetID="10"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0" repeatCount="indefinite" fill="hold" display="0">
                  <p:stCondLst>
                    <p:cond delay="indefinite"/>
                  </p:stCondLst>
                </p:cTn>
                <p:tgtEl>
                  <p:spTgt spid="4"/>
                </p:tgtEl>
              </p:cMediaNode>
            </p:video>
            <p:seq concurrent="1" nextAc="seek">
              <p:cTn id="11" restart="whenNotActive" fill="hold" evtFilter="cancelBubble" nodeType="interactiveSeq">
                <p:stCondLst>
                  <p:cond evt="onClick" delay="0">
                    <p:tgtEl>
                      <p:spTgt spid="4"/>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9A5ED78-3D03-2841-FBD2-2CE545473B12}"/>
              </a:ext>
            </a:extLst>
          </p:cNvPr>
          <p:cNvSpPr>
            <a:spLocks noChangeArrowheads="1"/>
          </p:cNvSpPr>
          <p:nvPr/>
        </p:nvSpPr>
        <p:spPr bwMode="auto">
          <a:xfrm>
            <a:off x="632779" y="1075549"/>
            <a:ext cx="9809480" cy="188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Handling face detection accuracy under different lighting conditions.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Avoiding false positives caused by small natural head movements.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Managing real-time video processing without performance lag.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Implementing cooldown and hold-time mechanisms to prevent repeated alerts.</a:t>
            </a:r>
          </a:p>
        </p:txBody>
      </p:sp>
      <p:sp>
        <p:nvSpPr>
          <p:cNvPr id="4" name="Google Shape;105;p3">
            <a:extLst>
              <a:ext uri="{FF2B5EF4-FFF2-40B4-BE49-F238E27FC236}">
                <a16:creationId xmlns:a16="http://schemas.microsoft.com/office/drawing/2014/main" id="{A3B801F0-F9CB-5F8F-D788-A48537D84EF0}"/>
              </a:ext>
            </a:extLst>
          </p:cNvPr>
          <p:cNvSpPr txBox="1"/>
          <p:nvPr/>
        </p:nvSpPr>
        <p:spPr>
          <a:xfrm>
            <a:off x="214296" y="24383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Challenges</a:t>
            </a:r>
          </a:p>
        </p:txBody>
      </p:sp>
      <p:pic>
        <p:nvPicPr>
          <p:cNvPr id="1027" name="Picture 3" descr="Frontiers | Incongruence in Lighting Impairs Face Identification">
            <a:extLst>
              <a:ext uri="{FF2B5EF4-FFF2-40B4-BE49-F238E27FC236}">
                <a16:creationId xmlns:a16="http://schemas.microsoft.com/office/drawing/2014/main" id="{6467165D-5B16-4F9D-B28B-4C459F0F9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5659" y="3429000"/>
            <a:ext cx="3786821" cy="2522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64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D97E83-7ED8-A553-B1C1-1E6329151A9A}"/>
              </a:ext>
            </a:extLst>
          </p:cNvPr>
          <p:cNvSpPr>
            <a:spLocks noChangeArrowheads="1"/>
          </p:cNvSpPr>
          <p:nvPr/>
        </p:nvSpPr>
        <p:spPr bwMode="auto">
          <a:xfrm>
            <a:off x="833120" y="1769184"/>
            <a:ext cx="10708640"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Enables real-time automated monitoring of candidates during online examinations.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Detects face absence and multiple faces, reducing impersonation and proxy attempts.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Reduces dependency on manual invigilators, lowering operational costs.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Provides timestamped visual evidence through screenshots and logs for audit purposes.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Scalable solution suitable for large-scale online exams and assessments.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Improves fairness, transparency, and credibility of online examinations.</a:t>
            </a:r>
          </a:p>
        </p:txBody>
      </p:sp>
      <p:sp>
        <p:nvSpPr>
          <p:cNvPr id="5" name="Google Shape;105;p3">
            <a:extLst>
              <a:ext uri="{FF2B5EF4-FFF2-40B4-BE49-F238E27FC236}">
                <a16:creationId xmlns:a16="http://schemas.microsoft.com/office/drawing/2014/main" id="{64657172-2352-5E6D-ED7B-0855ADC66445}"/>
              </a:ext>
            </a:extLst>
          </p:cNvPr>
          <p:cNvSpPr txBox="1"/>
          <p:nvPr/>
        </p:nvSpPr>
        <p:spPr>
          <a:xfrm>
            <a:off x="214296" y="157597"/>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Advantages</a:t>
            </a:r>
          </a:p>
        </p:txBody>
      </p:sp>
    </p:spTree>
    <p:extLst>
      <p:ext uri="{BB962C8B-B14F-4D97-AF65-F5344CB8AC3E}">
        <p14:creationId xmlns:p14="http://schemas.microsoft.com/office/powerpoint/2010/main" val="300983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F828BE-0756-AD5F-59F2-332AFB0A6BF6}"/>
              </a:ext>
            </a:extLst>
          </p:cNvPr>
          <p:cNvSpPr txBox="1"/>
          <p:nvPr/>
        </p:nvSpPr>
        <p:spPr>
          <a:xfrm>
            <a:off x="579120" y="1493520"/>
            <a:ext cx="11135360" cy="3728649"/>
          </a:xfrm>
          <a:prstGeom prst="rect">
            <a:avLst/>
          </a:prstGeom>
          <a:noFill/>
        </p:spPr>
        <p:txBody>
          <a:bodyPr wrap="square" rtlCol="0">
            <a:spAutoFit/>
          </a:bodyPr>
          <a:lstStyle/>
          <a:p>
            <a:pPr algn="just">
              <a:lnSpc>
                <a:spcPct val="150000"/>
              </a:lnSpc>
            </a:pPr>
            <a:r>
              <a:rPr lang="en-US" sz="2000" dirty="0"/>
              <a:t>The AI-Based Real-Time Face Monitoring System provides an effective and scalable solution for maintaining integrity in online examinations. By continuously monitoring candidates through webcam video, the system successfully detects face absence, multiple faces, and suspicious movements in real time. Automated alerts, visual evidence capture, and detailed logging reduce dependency on manual invigilation while improving fairness and transparency. Overall, the project demonstrates how computer vision can be practically applied to enhance the reliability and credibility of modern online assessment systems.</a:t>
            </a:r>
          </a:p>
          <a:p>
            <a:pPr algn="just">
              <a:lnSpc>
                <a:spcPct val="150000"/>
              </a:lnSpc>
            </a:pPr>
            <a:endParaRPr lang="en-IN" sz="2000" dirty="0"/>
          </a:p>
        </p:txBody>
      </p:sp>
      <p:sp>
        <p:nvSpPr>
          <p:cNvPr id="5" name="Google Shape;105;p3">
            <a:extLst>
              <a:ext uri="{FF2B5EF4-FFF2-40B4-BE49-F238E27FC236}">
                <a16:creationId xmlns:a16="http://schemas.microsoft.com/office/drawing/2014/main" id="{4C9C0851-2B95-F6C3-7926-F47E8D503078}"/>
              </a:ext>
            </a:extLst>
          </p:cNvPr>
          <p:cNvSpPr txBox="1"/>
          <p:nvPr/>
        </p:nvSpPr>
        <p:spPr>
          <a:xfrm>
            <a:off x="214296" y="243834"/>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197547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6CEA3AAE-BAAB-B773-86DE-F19D19387C14}"/>
              </a:ext>
            </a:extLst>
          </p:cNvPr>
          <p:cNvSpPr>
            <a:spLocks noChangeArrowheads="1"/>
          </p:cNvSpPr>
          <p:nvPr/>
        </p:nvSpPr>
        <p:spPr bwMode="auto">
          <a:xfrm>
            <a:off x="741680" y="1815484"/>
            <a:ext cx="9052560"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Integration of face recognition for identity verification of candidates.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Implementation of eye gaze tracking to detect off-screen attention.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Addition of head pose estimation for more accurate movement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Cloud-based dashboard for centralized monitoring and analytics.</a:t>
            </a:r>
          </a:p>
        </p:txBody>
      </p:sp>
      <p:sp>
        <p:nvSpPr>
          <p:cNvPr id="6" name="Google Shape;105;p3">
            <a:extLst>
              <a:ext uri="{FF2B5EF4-FFF2-40B4-BE49-F238E27FC236}">
                <a16:creationId xmlns:a16="http://schemas.microsoft.com/office/drawing/2014/main" id="{C708617B-05F2-0527-6BC7-14761E22ADBB}"/>
              </a:ext>
            </a:extLst>
          </p:cNvPr>
          <p:cNvSpPr txBox="1"/>
          <p:nvPr/>
        </p:nvSpPr>
        <p:spPr>
          <a:xfrm>
            <a:off x="519096" y="625782"/>
            <a:ext cx="6099463"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Future Scope</a:t>
            </a:r>
          </a:p>
        </p:txBody>
      </p:sp>
    </p:spTree>
    <p:extLst>
      <p:ext uri="{BB962C8B-B14F-4D97-AF65-F5344CB8AC3E}">
        <p14:creationId xmlns:p14="http://schemas.microsoft.com/office/powerpoint/2010/main" val="405002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A37483-2B97-52DA-5A54-334E4E0E99CF}"/>
              </a:ext>
            </a:extLst>
          </p:cNvPr>
          <p:cNvPicPr>
            <a:picLocks noChangeAspect="1"/>
          </p:cNvPicPr>
          <p:nvPr/>
        </p:nvPicPr>
        <p:blipFill>
          <a:blip r:embed="rId2"/>
          <a:stretch>
            <a:fillRect/>
          </a:stretch>
        </p:blipFill>
        <p:spPr>
          <a:xfrm>
            <a:off x="1221740" y="264160"/>
            <a:ext cx="9405620" cy="5769187"/>
          </a:xfrm>
          <a:prstGeom prst="rect">
            <a:avLst/>
          </a:prstGeom>
        </p:spPr>
      </p:pic>
    </p:spTree>
    <p:extLst>
      <p:ext uri="{BB962C8B-B14F-4D97-AF65-F5344CB8AC3E}">
        <p14:creationId xmlns:p14="http://schemas.microsoft.com/office/powerpoint/2010/main" val="1646735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779</TotalTime>
  <Words>927</Words>
  <Application>Microsoft Office PowerPoint</Application>
  <PresentationFormat>Widescreen</PresentationFormat>
  <Paragraphs>74</Paragraphs>
  <Slides>16</Slides>
  <Notes>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Lato Black</vt:lpstr>
      <vt:lpstr>Arial</vt:lpstr>
      <vt:lpstr>Calibri</vt:lpstr>
      <vt:lpstr>Libre Baskerville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Annonymus M</cp:lastModifiedBy>
  <cp:revision>27</cp:revision>
  <dcterms:created xsi:type="dcterms:W3CDTF">2021-02-16T05:19:01Z</dcterms:created>
  <dcterms:modified xsi:type="dcterms:W3CDTF">2026-02-12T10:18:16Z</dcterms:modified>
</cp:coreProperties>
</file>